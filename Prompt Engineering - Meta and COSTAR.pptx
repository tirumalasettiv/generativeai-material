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3427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warm. Frame the 55 minutes: two practical skills for getting better AI results — Meta Prompting (have the AI write the prompt) and COSTAR (structure a great prompt yourself). No coding. We'll cover Meta Prompting first, then COSTAR.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straight from the MasterMind COSTAR guide. The directions analogy is the anchor — 'go somewhere nice' vs turn-by-turn. Vague in, vague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guide's first insight: more detail = better output. Anchor on 'brilliant but literal new hire'. Then transition: there are two ways to get that detail in — we'll start with Meta Prompting.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1, taught first. The key reframe: you don't have to be the prompt expert — the AI can be. This is the guide's meta prompting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four-step flow from the guide: Goal → Ask → Structure → Output. Keep it brisk. Next slide gives them the exact words to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them the actual template from the guide. If you have live AI, run it on a task a volunteer names and let it produce a complete prompt. Note: this is literally how this session was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2. Walk each letter with a one-line example. This maps exactly to the team's COSTAR guide — same six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lines slowly — each removes a guess. This is the exact example from the COSTAR guide. Next slide shows what these two prompts actually produce.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showcase. If you have live AI, run both prompts. The before/after is the guide's own example — read the cold version, then the COSTAR version. Specificity unlocks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 tree from the guide. COSTAR and Meta are partners. Lost → Meta. Know your destination → COSTAR. Big and messy →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in the guide, but essential for a leadership audience. Keep it honest and brief — the goal is good judgment, not fear.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call to action. Two tools, one rule for choosing. Hand out the cheat sheet so everyone leaves with the template and the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wave-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0"/>
            <a:ext cx="7132320" cy="229684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8680" y="868680"/>
            <a:ext cx="3154680" cy="365760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868680" y="868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 · MASTERMIND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41248" y="178308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</a:t>
            </a:r>
            <a:endParaRPr lang="en-US" sz="4700" dirty="0"/>
          </a:p>
          <a:p>
            <a:pPr marL="0" indent="0" algn="l">
              <a:lnSpc>
                <a:spcPts val="47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and COSTAR</a:t>
            </a:r>
            <a:endParaRPr lang="en-US" sz="4700" dirty="0"/>
          </a:p>
        </p:txBody>
      </p:sp>
      <p:sp>
        <p:nvSpPr>
          <p:cNvPr id="7" name="Text 4"/>
          <p:cNvSpPr/>
          <p:nvPr/>
        </p:nvSpPr>
        <p:spPr>
          <a:xfrm>
            <a:off x="868680" y="37033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dirty="0">
                <a:solidFill>
                  <a:srgbClr val="BF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get world-class results from AI — Meta Prompting and COSTAR.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86968" y="4572000"/>
            <a:ext cx="1828800" cy="0"/>
          </a:xfrm>
          <a:prstGeom prst="line">
            <a:avLst/>
          </a:prstGeom>
          <a:noFill/>
          <a:ln w="31750">
            <a:solidFill>
              <a:srgbClr val="6C5C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7882128" y="1371600"/>
            <a:ext cx="3803904" cy="2103120"/>
          </a:xfrm>
          <a:prstGeom prst="roundRect">
            <a:avLst>
              <a:gd name="adj" fmla="val 5217"/>
            </a:avLst>
          </a:prstGeom>
          <a:solidFill>
            <a:srgbClr val="262049"/>
          </a:solidFill>
          <a:ln w="12700">
            <a:solidFill>
              <a:srgbClr val="3A32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8211312" y="1682496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211312" y="1682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11312" y="2322576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Prompting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229600" y="2816352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AI write the prompt for you — when you're not sure how to structure the request.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82128" y="3703320"/>
            <a:ext cx="3803904" cy="2103120"/>
          </a:xfrm>
          <a:prstGeom prst="roundRect">
            <a:avLst>
              <a:gd name="adj" fmla="val 5217"/>
            </a:avLst>
          </a:prstGeom>
          <a:solidFill>
            <a:srgbClr val="262049"/>
          </a:solidFill>
          <a:ln w="12700">
            <a:solidFill>
              <a:srgbClr val="3A32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211312" y="4014216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211312" y="4014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211312" y="4654296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COSTAR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229600" y="5148072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six-part checklist for a complete, precise prompt — when you know how to structure the request.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-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0"/>
            <a:ext cx="4160520" cy="13398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START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502920" y="84124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prompt engineering?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45920"/>
            <a:ext cx="11183112" cy="749808"/>
          </a:xfrm>
          <a:prstGeom prst="roundRect">
            <a:avLst>
              <a:gd name="adj" fmla="val 12195"/>
            </a:avLst>
          </a:prstGeom>
          <a:solidFill>
            <a:srgbClr val="ECE9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77240" y="1645920"/>
            <a:ext cx="10634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your instructions</a:t>
            </a:r>
            <a:r>
              <a:rPr lang="en-US" sz="155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an AI gives you the best possible output.  Think of it like giving directions.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02920" y="2697480"/>
            <a:ext cx="544982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5E2F2"/>
            </a:solidFill>
            <a:prstDash val="solid"/>
          </a:ln>
          <a:effectLst>
            <a:outerShdw blurRad="114300" dist="38100" dir="8100000" algn="bl" rotWithShape="0">
              <a:srgbClr val="1A163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795528" y="2953512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DC5B4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95528" y="29535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VAGUE DIRECTIONS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95528" y="3447288"/>
            <a:ext cx="4864608" cy="914400"/>
          </a:xfrm>
          <a:prstGeom prst="roundRect">
            <a:avLst>
              <a:gd name="adj" fmla="val 7000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923544" y="3447288"/>
            <a:ext cx="4608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“Go somewhere nice.”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3816" y="4453128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end up lost — the AI picks a destination, and usually not yours.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36208" y="2697480"/>
            <a:ext cx="544982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5E2F2"/>
            </a:solidFill>
            <a:prstDash val="solid"/>
          </a:ln>
          <a:effectLst>
            <a:outerShdw blurRad="114300" dist="38100" dir="8100000" algn="bl" rotWithShape="0">
              <a:srgbClr val="1A163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6528816" y="2953512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0E9F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528816" y="29535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PRECISE DIRECTIONS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528816" y="3447288"/>
            <a:ext cx="4864608" cy="914400"/>
          </a:xfrm>
          <a:prstGeom prst="roundRect">
            <a:avLst>
              <a:gd name="adj" fmla="val 7000"/>
            </a:avLst>
          </a:prstGeom>
          <a:solidFill>
            <a:srgbClr val="E3F6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656832" y="3447288"/>
            <a:ext cx="4608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>
                <a:solidFill>
                  <a:srgbClr val="241F45"/>
                </a:solidFill>
                <a:latin typeface="Trebuchet MS"/>
              </a:rPr>
              <a:t>“Take me to </a:t>
            </a:r>
            <a:r>
              <a:rPr sz="1500" u="none">
                <a:solidFill>
                  <a:srgbClr val="241F45"/>
                </a:solidFill>
                <a:latin typeface="Trebuchet MS"/>
              </a:rPr>
              <a:t>Times Square NYC</a:t>
            </a:r>
            <a:r>
              <a:rPr sz="1500">
                <a:solidFill>
                  <a:srgbClr val="241F45"/>
                </a:solidFill>
                <a:latin typeface="Trebuchet MS"/>
              </a:rPr>
              <a:t> using the fastest route.”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547104" y="4453128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arrive exactly where you intended to go.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525780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50" i="1">
                <a:solidFill>
                  <a:srgbClr val="73708C"/>
                </a:solidFill>
                <a:latin typeface="Calibri"/>
              </a:rPr>
              <a:t>TODAY'S USE CASES   ·   (1) Draft a job description for hiring an AI Engineer      (2) Write a rejection email to a candidate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 ·  Meta Prompting &amp; COSTAR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588752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73708C"/>
                </a:solidFill>
                <a:latin typeface="Calibri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-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0"/>
            <a:ext cx="4160520" cy="13398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MENTAL MODEL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502920" y="84124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 is what the AI runs 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828800"/>
            <a:ext cx="3547872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5E2F2"/>
            </a:solidFill>
            <a:prstDash val="solid"/>
          </a:ln>
          <a:effectLst>
            <a:outerShdw blurRad="114300" dist="38100" dir="8100000" algn="bl" rotWithShape="0">
              <a:srgbClr val="1A163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813816" y="2139696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13816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13816" y="2852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 it as a new hire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3816" y="3273552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Brilliant and fast — but it only knows what's in the brief. It cannot see the context in your head.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1688" y="1828800"/>
            <a:ext cx="3547872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5E2F2"/>
            </a:solidFill>
            <a:prstDash val="solid"/>
          </a:ln>
          <a:effectLst>
            <a:outerShdw blurRad="114300" dist="38100" dir="8100000" algn="bl" rotWithShape="0">
              <a:srgbClr val="1A163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672584" y="2139696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4672584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672584" y="2852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will never push back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72584" y="3273552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Under-brief it and it still answers — confidently — just not with the answer you actually wanted.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0456" y="1828800"/>
            <a:ext cx="3547872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5E2F2"/>
            </a:solidFill>
            <a:prstDash val="solid"/>
          </a:ln>
          <a:effectLst>
            <a:outerShdw blurRad="114300" dist="38100" dir="8100000" algn="bl" rotWithShape="0">
              <a:srgbClr val="1A163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531352" y="2139696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531352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531352" y="2852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 in, quality out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531352" y="3273552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detail in your prompt means a more targeted output. You teach the AI what “good” looks like.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02920" y="4754880"/>
            <a:ext cx="11183112" cy="960120"/>
          </a:xfrm>
          <a:prstGeom prst="roundRect">
            <a:avLst>
              <a:gd name="adj" fmla="val 9524"/>
            </a:avLst>
          </a:prstGeom>
          <a:solidFill>
            <a:srgbClr val="1A1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502920" y="4754880"/>
            <a:ext cx="11183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FB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detail in  </a:t>
            </a: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 better, more targeted output. Every time.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 ·  Meta Prompting &amp; COSTAR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588752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73708C"/>
                </a:solidFill>
                <a:latin typeface="Calibri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-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0"/>
            <a:ext cx="4160520" cy="13398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FB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1 · THE POWER MOVE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502920" y="84124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prompting — let the AI write the prompt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78308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prompting is asking the AI to write the prompt for you.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02920" y="23317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struggling to structure a complex request, you tell the AI your goal — and let it be your prompt engineer.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34290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262049"/>
          </a:solidFill>
          <a:ln w="12700">
            <a:solidFill>
              <a:srgbClr val="3A32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795528" y="3703320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95528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380744" y="37216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bring the goal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" y="427024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F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outcome you want — a memo, a plan, an analysis.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4334256" y="34290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262049"/>
          </a:solidFill>
          <a:ln w="12700">
            <a:solidFill>
              <a:srgbClr val="3A32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4626864" y="3703320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626864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212080" y="37216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brings the craft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26864" y="427024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F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what works: context, tone, format, constraints. It drafts the prompt.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8165592" y="34290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262049"/>
          </a:solidFill>
          <a:ln w="12700">
            <a:solidFill>
              <a:srgbClr val="3A32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8458200" y="3703320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84582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9043416" y="37216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burden shifts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458200" y="427024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F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part — structuring the request — moves from you to the AI.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502920" y="544068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A9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you're unsure how to structure it — start with your goal, and let the AI build the perfect prompt.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 ·  Meta Prompting &amp; COSTAR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588752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6E6A93"/>
                </a:solidFill>
                <a:latin typeface="Calibri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-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0"/>
            <a:ext cx="4160520" cy="13398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1 · HOW IT WORKS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502920" y="84124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prompting in four steps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965960"/>
            <a:ext cx="2542032" cy="297180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5E2F2"/>
            </a:solidFill>
            <a:prstDash val="solid"/>
          </a:ln>
          <a:effectLst>
            <a:outerShdw blurRad="114300" dist="38100" dir="8100000" algn="bl" rotWithShape="0">
              <a:srgbClr val="1A163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2542032" cy="118872"/>
          </a:xfrm>
          <a:prstGeom prst="rect">
            <a:avLst/>
          </a:prstGeom>
          <a:solidFill>
            <a:srgbClr val="2E78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1417320" y="2276856"/>
            <a:ext cx="713232" cy="713232"/>
          </a:xfrm>
          <a:prstGeom prst="ellipse">
            <a:avLst/>
          </a:prstGeom>
          <a:solidFill>
            <a:srgbClr val="E6EF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417320" y="227685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8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85800" y="313639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goal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40664" y="3593592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what you want — a report, an email, a plan — but not how to phrase the request.</a:t>
            </a:r>
            <a:endParaRPr lang="en-US" sz="1180" dirty="0"/>
          </a:p>
        </p:txBody>
      </p:sp>
      <p:sp>
        <p:nvSpPr>
          <p:cNvPr id="11" name="Text 8"/>
          <p:cNvSpPr/>
          <p:nvPr/>
        </p:nvSpPr>
        <p:spPr>
          <a:xfrm>
            <a:off x="3008376" y="1965960"/>
            <a:ext cx="39319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64992" y="1965960"/>
            <a:ext cx="2542032" cy="297180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5E2F2"/>
            </a:solidFill>
            <a:prstDash val="solid"/>
          </a:ln>
          <a:effectLst>
            <a:outerShdw blurRad="114300" dist="38100" dir="8100000" algn="bl" rotWithShape="0">
              <a:srgbClr val="1A163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3364992" y="1965960"/>
            <a:ext cx="2542032" cy="118872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4279392" y="2276856"/>
            <a:ext cx="713232" cy="713232"/>
          </a:xfrm>
          <a:prstGeom prst="ellipse">
            <a:avLst/>
          </a:prstGeom>
          <a:solidFill>
            <a:srgbClr val="ECE9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4279392" y="227685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3547872" y="313639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the AI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3602736" y="3593592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it: “Help me write the best prompt to accomplish this goal.” You hand over the job.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5870448" y="1965960"/>
            <a:ext cx="39319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227064" y="1965960"/>
            <a:ext cx="2542032" cy="297180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5E2F2"/>
            </a:solidFill>
            <a:prstDash val="solid"/>
          </a:ln>
          <a:effectLst>
            <a:outerShdw blurRad="114300" dist="38100" dir="8100000" algn="bl" rotWithShape="0">
              <a:srgbClr val="1A163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227064" y="1965960"/>
            <a:ext cx="2542032" cy="118872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7141464" y="2276856"/>
            <a:ext cx="713232" cy="713232"/>
          </a:xfrm>
          <a:prstGeom prst="ellipse">
            <a:avLst/>
          </a:prstGeom>
          <a:solidFill>
            <a:srgbClr val="FBEFD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7141464" y="227685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6409944" y="313639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structures it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6464808" y="3593592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applies what works — context, tone, format, constraints — and drafts an optimized prompt.</a:t>
            </a:r>
            <a:endParaRPr lang="en-US" sz="1180" dirty="0"/>
          </a:p>
        </p:txBody>
      </p:sp>
      <p:sp>
        <p:nvSpPr>
          <p:cNvPr id="25" name="Text 22"/>
          <p:cNvSpPr/>
          <p:nvPr/>
        </p:nvSpPr>
        <p:spPr>
          <a:xfrm>
            <a:off x="8732520" y="1965960"/>
            <a:ext cx="39319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089136" y="1965960"/>
            <a:ext cx="2542032" cy="297180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5E2F2"/>
            </a:solidFill>
            <a:prstDash val="solid"/>
          </a:ln>
          <a:effectLst>
            <a:outerShdw blurRad="114300" dist="38100" dir="8100000" algn="bl" rotWithShape="0">
              <a:srgbClr val="1A163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9089136" y="1965960"/>
            <a:ext cx="2542032" cy="118872"/>
          </a:xfrm>
          <a:prstGeom prst="rect">
            <a:avLst/>
          </a:prstGeom>
          <a:solidFill>
            <a:srgbClr val="0E9F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5"/>
          <p:cNvSpPr/>
          <p:nvPr/>
        </p:nvSpPr>
        <p:spPr>
          <a:xfrm>
            <a:off x="10003536" y="2276856"/>
            <a:ext cx="713232" cy="713232"/>
          </a:xfrm>
          <a:prstGeom prst="ellipse">
            <a:avLst/>
          </a:prstGeom>
          <a:solidFill>
            <a:srgbClr val="E3F6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10003536" y="227685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9F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9272016" y="313639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output</a:t>
            </a:r>
            <a:endParaRPr lang="en-US" sz="1550" dirty="0"/>
          </a:p>
        </p:txBody>
      </p:sp>
      <p:sp>
        <p:nvSpPr>
          <p:cNvPr id="31" name="Text 28"/>
          <p:cNvSpPr/>
          <p:nvPr/>
        </p:nvSpPr>
        <p:spPr>
          <a:xfrm>
            <a:off x="9326880" y="3593592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submit the AI-crafted prompt and get a far more targeted, high-quality response.</a:t>
            </a:r>
            <a:endParaRPr lang="en-US" sz="1180" dirty="0"/>
          </a:p>
        </p:txBody>
      </p:sp>
      <p:sp>
        <p:nvSpPr>
          <p:cNvPr id="32" name="Shape 29"/>
          <p:cNvSpPr/>
          <p:nvPr/>
        </p:nvSpPr>
        <p:spPr>
          <a:xfrm>
            <a:off x="502920" y="5257800"/>
            <a:ext cx="11183112" cy="713232"/>
          </a:xfrm>
          <a:prstGeom prst="roundRect">
            <a:avLst>
              <a:gd name="adj" fmla="val 12821"/>
            </a:avLst>
          </a:prstGeom>
          <a:solidFill>
            <a:srgbClr val="ECE9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502920" y="5257800"/>
            <a:ext cx="11183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in charge of the goal. The AI does the prompt engineering.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 ·  Meta Prompting &amp; COSTAR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588752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73708C"/>
                </a:solidFill>
                <a:latin typeface="Calibri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-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0"/>
            <a:ext cx="4160520" cy="13398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1 · COPY THIS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502920" y="84124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meta-prompt — paste it whenever you're stuck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783080"/>
            <a:ext cx="11183112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5E2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868680" y="2093976"/>
            <a:ext cx="10451592" cy="640080"/>
          </a:xfrm>
          <a:prstGeom prst="roundRect">
            <a:avLst>
              <a:gd name="adj" fmla="val 11429"/>
            </a:avLst>
          </a:prstGeom>
          <a:solidFill>
            <a:srgbClr val="ECE9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68680" y="2093976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 [ Draft a job description for hiring an AI Engineer — responsibilities, must-have skills, and why our team is a great place to work 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2880360"/>
            <a:ext cx="10268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50" i="1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 as an expert Prompt Engineer. Please write the best possible prompt that I can use to get a world-class response from you. Include any necessary context, role-playing personas, or constraints that will make the output high-quality.”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02920" y="4709160"/>
            <a:ext cx="11183112" cy="914400"/>
          </a:xfrm>
          <a:prstGeom prst="roundRect">
            <a:avLst>
              <a:gd name="adj" fmla="val 10000"/>
            </a:avLst>
          </a:prstGeom>
          <a:solidFill>
            <a:srgbClr val="ECE9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777240" y="470916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prompt is how today's deck and handouts were built. One template, world-class results.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 ·  Meta Prompting &amp; COSTAR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88752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73708C"/>
                </a:solidFill>
                <a:latin typeface="Calibri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-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0"/>
            <a:ext cx="4160520" cy="13398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FB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2 · THE FRAMEWORK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502920" y="84124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COSTAR — the six parts of a complete prompt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3520440" cy="1755648"/>
          </a:xfrm>
          <a:prstGeom prst="roundRect">
            <a:avLst>
              <a:gd name="adj" fmla="val 5208"/>
            </a:avLst>
          </a:prstGeom>
          <a:solidFill>
            <a:srgbClr val="262049"/>
          </a:solidFill>
          <a:ln w="12700">
            <a:solidFill>
              <a:srgbClr val="3A32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58952" y="1975104"/>
            <a:ext cx="603504" cy="603504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58952" y="19751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490472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2670048"/>
            <a:ext cx="2990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F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that helps the AI understand your situation and constraints.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4334256" y="1737360"/>
            <a:ext cx="3520440" cy="1755648"/>
          </a:xfrm>
          <a:prstGeom prst="roundRect">
            <a:avLst>
              <a:gd name="adj" fmla="val 5208"/>
            </a:avLst>
          </a:prstGeom>
          <a:solidFill>
            <a:srgbClr val="262049"/>
          </a:solidFill>
          <a:ln w="12700">
            <a:solidFill>
              <a:srgbClr val="3A32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590288" y="1975104"/>
            <a:ext cx="603504" cy="603504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4590288" y="19751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321808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608576" y="2670048"/>
            <a:ext cx="2990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F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goal or outcome you want the AI to achieve.</a:t>
            </a:r>
            <a:endParaRPr lang="en-US" sz="1180" dirty="0"/>
          </a:p>
        </p:txBody>
      </p:sp>
      <p:sp>
        <p:nvSpPr>
          <p:cNvPr id="15" name="Shape 12"/>
          <p:cNvSpPr/>
          <p:nvPr/>
        </p:nvSpPr>
        <p:spPr>
          <a:xfrm>
            <a:off x="8165592" y="1737360"/>
            <a:ext cx="3520440" cy="1755648"/>
          </a:xfrm>
          <a:prstGeom prst="roundRect">
            <a:avLst>
              <a:gd name="adj" fmla="val 5208"/>
            </a:avLst>
          </a:prstGeom>
          <a:solidFill>
            <a:srgbClr val="262049"/>
          </a:solidFill>
          <a:ln w="12700">
            <a:solidFill>
              <a:srgbClr val="3A32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421624" y="1975104"/>
            <a:ext cx="603504" cy="603504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421624" y="19751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9153144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439912" y="2670048"/>
            <a:ext cx="2990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F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writing style — formal, casual, technical, creative, journalistic.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502920" y="3730752"/>
            <a:ext cx="3520440" cy="1755648"/>
          </a:xfrm>
          <a:prstGeom prst="roundRect">
            <a:avLst>
              <a:gd name="adj" fmla="val 5208"/>
            </a:avLst>
          </a:prstGeom>
          <a:solidFill>
            <a:srgbClr val="262049"/>
          </a:solidFill>
          <a:ln w="12700">
            <a:solidFill>
              <a:srgbClr val="3A32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758952" y="3968496"/>
            <a:ext cx="603504" cy="603504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758952" y="39684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490472" y="40050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Tone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77240" y="4663440"/>
            <a:ext cx="2990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F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emotional register — encouraging, authoritative, empathetic, direct.</a:t>
            </a:r>
            <a:endParaRPr lang="en-US" sz="1180" dirty="0"/>
          </a:p>
        </p:txBody>
      </p:sp>
      <p:sp>
        <p:nvSpPr>
          <p:cNvPr id="25" name="Shape 22"/>
          <p:cNvSpPr/>
          <p:nvPr/>
        </p:nvSpPr>
        <p:spPr>
          <a:xfrm>
            <a:off x="4334256" y="3730752"/>
            <a:ext cx="3520440" cy="1755648"/>
          </a:xfrm>
          <a:prstGeom prst="roundRect">
            <a:avLst>
              <a:gd name="adj" fmla="val 5208"/>
            </a:avLst>
          </a:prstGeom>
          <a:solidFill>
            <a:srgbClr val="262049"/>
          </a:solidFill>
          <a:ln w="12700">
            <a:solidFill>
              <a:srgbClr val="3A32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3"/>
          <p:cNvSpPr/>
          <p:nvPr/>
        </p:nvSpPr>
        <p:spPr>
          <a:xfrm>
            <a:off x="4590288" y="3968496"/>
            <a:ext cx="603504" cy="603504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4590288" y="39684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5321808" y="40050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Audience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4608576" y="4663440"/>
            <a:ext cx="2990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F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will read or use the output — experts, beginners, executives, customers.</a:t>
            </a:r>
            <a:endParaRPr lang="en-US" sz="1180" dirty="0"/>
          </a:p>
        </p:txBody>
      </p:sp>
      <p:sp>
        <p:nvSpPr>
          <p:cNvPr id="30" name="Shape 27"/>
          <p:cNvSpPr/>
          <p:nvPr/>
        </p:nvSpPr>
        <p:spPr>
          <a:xfrm>
            <a:off x="8165592" y="3730752"/>
            <a:ext cx="3520440" cy="1755648"/>
          </a:xfrm>
          <a:prstGeom prst="roundRect">
            <a:avLst>
              <a:gd name="adj" fmla="val 5208"/>
            </a:avLst>
          </a:prstGeom>
          <a:solidFill>
            <a:srgbClr val="262049"/>
          </a:solidFill>
          <a:ln w="12700">
            <a:solidFill>
              <a:srgbClr val="3A32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8"/>
          <p:cNvSpPr/>
          <p:nvPr/>
        </p:nvSpPr>
        <p:spPr>
          <a:xfrm>
            <a:off x="8421624" y="3968496"/>
            <a:ext cx="603504" cy="603504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8421624" y="39684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9153144" y="40050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8439912" y="4663440"/>
            <a:ext cx="2990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F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format — paragraph, bullet list, table, email, code block.</a:t>
            </a:r>
            <a:endParaRPr lang="en-US" sz="1180" dirty="0"/>
          </a:p>
        </p:txBody>
      </p:sp>
      <p:sp>
        <p:nvSpPr>
          <p:cNvPr id="35" name="Text 32"/>
          <p:cNvSpPr/>
          <p:nvPr/>
        </p:nvSpPr>
        <p:spPr>
          <a:xfrm>
            <a:off x="502920" y="594360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9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all six and the AI knows not just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r>
              <a:rPr lang="en-US" sz="1400" dirty="0">
                <a:solidFill>
                  <a:srgbClr val="9A9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do, but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r>
              <a:rPr lang="en-US" sz="1400" dirty="0">
                <a:solidFill>
                  <a:srgbClr val="9A9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for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whom</a:t>
            </a:r>
            <a:r>
              <a:rPr lang="en-US" sz="1400" dirty="0">
                <a:solidFill>
                  <a:srgbClr val="9A9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in what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r>
              <a:rPr lang="en-US" sz="1400" dirty="0">
                <a:solidFill>
                  <a:srgbClr val="9A9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 ·  Meta Prompting &amp; COSTAR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0588752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6E6A93"/>
                </a:solidFill>
                <a:latin typeface="Calibri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-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0"/>
            <a:ext cx="4160520" cy="13398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2 · WORKED EXAMPLE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502920" y="84124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COSTAR in action — a rejection email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783080"/>
            <a:ext cx="3429000" cy="361188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5E2F2"/>
            </a:solidFill>
            <a:prstDash val="solid"/>
          </a:ln>
          <a:effectLst>
            <a:outerShdw blurRad="114300" dist="38100" dir="8100000" algn="bl" rotWithShape="0">
              <a:srgbClr val="1A163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20574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TASK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95528" y="2624328"/>
            <a:ext cx="2862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hard, human task into a prompt the AI can nail —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3474720"/>
            <a:ext cx="2880360" cy="1600200"/>
          </a:xfrm>
          <a:prstGeom prst="roundRect">
            <a:avLst>
              <a:gd name="adj" fmla="val 4000"/>
            </a:avLst>
          </a:prstGeom>
          <a:solidFill>
            <a:srgbClr val="ECE9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923544" y="3474720"/>
            <a:ext cx="25877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a rejection email to a strong candidate — without burning the relationship.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206240" y="1783080"/>
            <a:ext cx="7479792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5E2F2"/>
            </a:solidFill>
            <a:prstDash val="solid"/>
          </a:ln>
          <a:effectLst>
            <a:outerShdw blurRad="114300" dist="38100" dir="8100000" algn="bl" rotWithShape="0">
              <a:srgbClr val="1A163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498848" y="205740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0E9F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4498848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 IN ALL SIX COSTAR PARTS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17136" y="2660904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4517136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992624" y="2624328"/>
            <a:ext cx="6382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Rejecting a high-potential candidate over cultural-fit concerns.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4517136" y="310896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4517136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992624" y="3072384"/>
            <a:ext cx="6382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rejection email that preserves the relationship.</a:t>
            </a:r>
            <a:endParaRPr lang="en-US" sz="1280" dirty="0"/>
          </a:p>
        </p:txBody>
      </p:sp>
      <p:sp>
        <p:nvSpPr>
          <p:cNvPr id="20" name="Shape 17"/>
          <p:cNvSpPr/>
          <p:nvPr/>
        </p:nvSpPr>
        <p:spPr>
          <a:xfrm>
            <a:off x="4517136" y="3557016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4517136" y="3557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992624" y="3520440"/>
            <a:ext cx="6382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Professional, warm, conversational.</a:t>
            </a:r>
            <a:endParaRPr lang="en-US" sz="1280" dirty="0"/>
          </a:p>
        </p:txBody>
      </p:sp>
      <p:sp>
        <p:nvSpPr>
          <p:cNvPr id="23" name="Shape 20"/>
          <p:cNvSpPr/>
          <p:nvPr/>
        </p:nvSpPr>
        <p:spPr>
          <a:xfrm>
            <a:off x="4517136" y="4005072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4517136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992624" y="3968496"/>
            <a:ext cx="6382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Empathetic, encouraging, honest.</a:t>
            </a:r>
            <a:endParaRPr lang="en-US" sz="1280" dirty="0"/>
          </a:p>
        </p:txBody>
      </p:sp>
      <p:sp>
        <p:nvSpPr>
          <p:cNvPr id="26" name="Shape 23"/>
          <p:cNvSpPr/>
          <p:nvPr/>
        </p:nvSpPr>
        <p:spPr>
          <a:xfrm>
            <a:off x="4517136" y="44531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4517136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992624" y="4416552"/>
            <a:ext cx="6382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talented engineer with 10 years of experience.</a:t>
            </a:r>
            <a:endParaRPr lang="en-US" sz="1280" dirty="0"/>
          </a:p>
        </p:txBody>
      </p:sp>
      <p:sp>
        <p:nvSpPr>
          <p:cNvPr id="29" name="Shape 26"/>
          <p:cNvSpPr/>
          <p:nvPr/>
        </p:nvSpPr>
        <p:spPr>
          <a:xfrm>
            <a:off x="4517136" y="4901184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4517136" y="4901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992624" y="4864608"/>
            <a:ext cx="6382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format, 3–4 paragraphs, 150–200 words.</a:t>
            </a:r>
            <a:endParaRPr lang="en-US" sz="1280" dirty="0"/>
          </a:p>
        </p:txBody>
      </p:sp>
      <p:sp>
        <p:nvSpPr>
          <p:cNvPr id="32" name="Shape 29"/>
          <p:cNvSpPr/>
          <p:nvPr/>
        </p:nvSpPr>
        <p:spPr>
          <a:xfrm>
            <a:off x="502920" y="5532120"/>
            <a:ext cx="11183112" cy="713232"/>
          </a:xfrm>
          <a:prstGeom prst="roundRect">
            <a:avLst>
              <a:gd name="adj" fmla="val 12821"/>
            </a:avLst>
          </a:prstGeom>
          <a:solidFill>
            <a:srgbClr val="ECE9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502920" y="5532120"/>
            <a:ext cx="11183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even one part and the output drifts generic. All six, and the AI has the full picture.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 ·  Meta Prompting &amp; COSTAR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588752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73708C"/>
                </a:solidFill>
                <a:latin typeface="Calibri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-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0"/>
            <a:ext cx="4160520" cy="13398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2 · BEFORE / AFTER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502920" y="84124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same task. Two very different emails.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755648"/>
            <a:ext cx="5449824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E2F2"/>
            </a:solidFill>
            <a:prstDash val="solid"/>
          </a:ln>
          <a:effectLst>
            <a:outerShdw blurRad="114300" dist="38100" dir="8100000" algn="bl" rotWithShape="0">
              <a:srgbClr val="1A163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1956816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DC5B4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77240" y="19568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VAGUE PROMPT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13816" y="2359152"/>
            <a:ext cx="4828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a rejection email to a candidate.”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3401568"/>
            <a:ext cx="5449824" cy="1874520"/>
          </a:xfrm>
          <a:prstGeom prst="roundRect">
            <a:avLst>
              <a:gd name="adj" fmla="val 4390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13816" y="3547872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7370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AI RETURNS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13816" y="3803904"/>
            <a:ext cx="4828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have decided to move forward with other candidates. Thank you for your interest.”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13816" y="4818888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5B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Cold, generic, forgettable.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36208" y="1755648"/>
            <a:ext cx="5449824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E2F2"/>
            </a:solidFill>
            <a:prstDash val="solid"/>
          </a:ln>
          <a:effectLst>
            <a:outerShdw blurRad="114300" dist="38100" dir="8100000" algn="bl" rotWithShape="0">
              <a:srgbClr val="1A163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6510528" y="1956816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0E9F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510528" y="19568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COSTAR PROMPT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47104" y="2359152"/>
            <a:ext cx="4828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“Context: rejecting a talented engineer who fit our skills but not our pace. Objective: preserve the relationship… Style: warm. Tone: empathetic. Audience: a senior engineer. Response: email, 3–4 paragraphs.”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36208" y="3401568"/>
            <a:ext cx="5449824" cy="1874520"/>
          </a:xfrm>
          <a:prstGeom prst="roundRect">
            <a:avLst>
              <a:gd name="adj" fmla="val 4390"/>
            </a:avLst>
          </a:prstGeom>
          <a:solidFill>
            <a:srgbClr val="E3F6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547104" y="3547872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7370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AI RETURNS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547104" y="3803904"/>
            <a:ext cx="4828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technical skills are genuinely impressive… This wasn't about your qualifications — it's about cultural fit… We'd love to stay connected.”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547104" y="4818888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F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Warm, specific, relationship intact.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2920" y="5532120"/>
            <a:ext cx="11183112" cy="713232"/>
          </a:xfrm>
          <a:prstGeom prst="roundRect">
            <a:avLst>
              <a:gd name="adj" fmla="val 12821"/>
            </a:avLst>
          </a:prstGeom>
          <a:solidFill>
            <a:srgbClr val="1A1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502920" y="5532120"/>
            <a:ext cx="11183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task. Specificity is what unlocks quality.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 ·  Meta Prompting &amp; COSTAR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588752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73708C"/>
                </a:solidFill>
                <a:latin typeface="Calibri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-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0"/>
            <a:ext cx="4160520" cy="13398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PUTTING IT TOGETHER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502920" y="84124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should you use?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828800"/>
            <a:ext cx="3547872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5E2F2"/>
            </a:solidFill>
            <a:prstDash val="solid"/>
          </a:ln>
          <a:effectLst>
            <a:outerShdw blurRad="114300" dist="38100" dir="8100000" algn="bl" rotWithShape="0">
              <a:srgbClr val="1A163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3547872" cy="118872"/>
          </a:xfrm>
          <a:prstGeom prst="rect">
            <a:avLst/>
          </a:prstGeom>
          <a:solidFill>
            <a:srgbClr val="2E78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13816" y="2121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7370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IF…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13816" y="235915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Unsure how to structure it?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813816" y="3291840"/>
            <a:ext cx="2926080" cy="548640"/>
          </a:xfrm>
          <a:prstGeom prst="roundRect">
            <a:avLst>
              <a:gd name="adj" fmla="val 15000"/>
            </a:avLst>
          </a:prstGeom>
          <a:solidFill>
            <a:srgbClr val="E6EF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13816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8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Meta Prompting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13816" y="3977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goal is clear, the structure isn't. Let the AI craft the prompt.</a:t>
            </a:r>
            <a:endParaRPr lang="en-US" sz="1230" dirty="0"/>
          </a:p>
        </p:txBody>
      </p:sp>
      <p:sp>
        <p:nvSpPr>
          <p:cNvPr id="12" name="Shape 9"/>
          <p:cNvSpPr/>
          <p:nvPr/>
        </p:nvSpPr>
        <p:spPr>
          <a:xfrm>
            <a:off x="4361688" y="1828800"/>
            <a:ext cx="3547872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5E2F2"/>
            </a:solidFill>
            <a:prstDash val="solid"/>
          </a:ln>
          <a:effectLst>
            <a:outerShdw blurRad="114300" dist="38100" dir="8100000" algn="bl" rotWithShape="0">
              <a:srgbClr val="1A163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4361688" y="1828800"/>
            <a:ext cx="3547872" cy="118872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672584" y="2121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7370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IF…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72584" y="235915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 how to structure the request?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4672584" y="3291840"/>
            <a:ext cx="2926080" cy="548640"/>
          </a:xfrm>
          <a:prstGeom prst="roundRect">
            <a:avLst>
              <a:gd name="adj" fmla="val 15000"/>
            </a:avLst>
          </a:prstGeom>
          <a:solidFill>
            <a:srgbClr val="ECE9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4672584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COSTAR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672584" y="3977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structure the request yourself — across all six dimensions.</a:t>
            </a:r>
            <a:endParaRPr lang="en-US" sz="1230" dirty="0"/>
          </a:p>
        </p:txBody>
      </p:sp>
      <p:sp>
        <p:nvSpPr>
          <p:cNvPr id="19" name="Shape 16"/>
          <p:cNvSpPr/>
          <p:nvPr/>
        </p:nvSpPr>
        <p:spPr>
          <a:xfrm>
            <a:off x="8220456" y="1828800"/>
            <a:ext cx="3547872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5E2F2"/>
            </a:solidFill>
            <a:prstDash val="solid"/>
          </a:ln>
          <a:effectLst>
            <a:outerShdw blurRad="114300" dist="38100" dir="8100000" algn="bl" rotWithShape="0">
              <a:srgbClr val="1A163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8220456" y="1828800"/>
            <a:ext cx="3547872" cy="118872"/>
          </a:xfrm>
          <a:prstGeom prst="rect">
            <a:avLst/>
          </a:prstGeom>
          <a:solidFill>
            <a:srgbClr val="0E9F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8531352" y="2121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7370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IF…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531352" y="235915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 and multi-step?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8531352" y="3291840"/>
            <a:ext cx="2926080" cy="548640"/>
          </a:xfrm>
          <a:prstGeom prst="roundRect">
            <a:avLst>
              <a:gd name="adj" fmla="val 15000"/>
            </a:avLst>
          </a:prstGeom>
          <a:solidFill>
            <a:srgbClr val="E3F6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531352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9F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both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531352" y="3977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Meta-prompt to break it down, then COSTAR to execute each piece.</a:t>
            </a:r>
            <a:endParaRPr lang="en-US" sz="1230" dirty="0"/>
          </a:p>
        </p:txBody>
      </p:sp>
      <p:sp>
        <p:nvSpPr>
          <p:cNvPr id="26" name="Text 23"/>
          <p:cNvSpPr/>
          <p:nvPr/>
        </p:nvSpPr>
        <p:spPr>
          <a:xfrm>
            <a:off x="502920" y="512064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universally better — choose by your situation.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 ·  Meta Prompting &amp; COSTAR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588752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73708C"/>
                </a:solidFill>
                <a:latin typeface="Calibri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-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0"/>
            <a:ext cx="4160520" cy="13398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IT WELL — AND SAFELY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502920" y="84124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rules to take back to your teams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92024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5E2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502920" y="1920240"/>
            <a:ext cx="3520440" cy="109728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813816" y="2249424"/>
            <a:ext cx="566928" cy="566928"/>
          </a:xfrm>
          <a:prstGeom prst="ellipse">
            <a:avLst/>
          </a:prstGeom>
          <a:solidFill>
            <a:srgbClr val="E8A3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13816" y="2249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6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13816" y="2962656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what matters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3816" y="3383280"/>
            <a:ext cx="2898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prompt improves quality — it does not guarantee truth. AI can state wrong facts with full confidence. Check anything before it leaves your hands.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34256" y="192024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5E2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334256" y="1920240"/>
            <a:ext cx="3520440" cy="109728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4645152" y="2249424"/>
            <a:ext cx="566928" cy="566928"/>
          </a:xfrm>
          <a:prstGeom prst="ellipse">
            <a:avLst/>
          </a:prstGeom>
          <a:solidFill>
            <a:srgbClr val="E8A3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645152" y="2249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6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645152" y="2962656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 the data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45152" y="3383280"/>
            <a:ext cx="2898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paste confidential, customer, or personal data into AI tools that aren't company-approved. When in doubt, leave it out.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165592" y="192024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5E2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8165592" y="1920240"/>
            <a:ext cx="3520440" cy="109728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8476488" y="2249424"/>
            <a:ext cx="566928" cy="566928"/>
          </a:xfrm>
          <a:prstGeom prst="ellipse">
            <a:avLst/>
          </a:prstGeom>
          <a:solidFill>
            <a:srgbClr val="E8A3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8476488" y="2249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6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476488" y="2962656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stay accountable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476488" y="3383280"/>
            <a:ext cx="2898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drafts; you decide. Judgment, sign-off, and responsibility always remain with the human.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3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 ·  Meta Prompting &amp; COSTAR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588752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73708C"/>
                </a:solidFill>
                <a:latin typeface="Calibri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wave-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0"/>
            <a:ext cx="4160520" cy="13398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FB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YOU REMEMBER ONE THING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841248" y="109728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sure how to structure it? Meta-prompt it.
</a:t>
            </a:r>
            <a:r>
              <a:rPr lang="en-US" sz="3200" b="1" dirty="0">
                <a:solidFill>
                  <a:srgbClr val="BFB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 how to structure it? Run COSTAR.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68680" y="29260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FB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WEEK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68680" y="3310128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262049"/>
          </a:solidFill>
          <a:ln w="12700">
            <a:solidFill>
              <a:srgbClr val="3A32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1143000" y="3584448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143000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764792" y="358444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one task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43000" y="4206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F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something you write or analyze often.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4700016" y="3310128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262049"/>
          </a:solidFill>
          <a:ln w="12700">
            <a:solidFill>
              <a:srgbClr val="3A32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4974336" y="3584448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974336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596128" y="358444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Meta-prompt it if you're stuck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74336" y="4206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F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AI draft the prompt from your goal.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8531352" y="3310128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262049"/>
          </a:solidFill>
          <a:ln w="12700">
            <a:solidFill>
              <a:srgbClr val="3A32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8805672" y="3584448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8805672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427464" y="358444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Refine it with COSTAR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805672" y="4206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F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all six parts — then save the prompt to reuse.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868680" y="5257800"/>
            <a:ext cx="10451592" cy="777240"/>
          </a:xfrm>
          <a:prstGeom prst="roundRect">
            <a:avLst>
              <a:gd name="adj" fmla="val 11765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868680" y="525780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and examples: the one-page summary + Prompt Engineering - Meta and COSTAR - Examples.md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 ·  Meta Prompting &amp; COSTAR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588752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6E6A93"/>
                </a:solidFill>
                <a:latin typeface="Calibri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1863</Words>
  <Application>Microsoft Office PowerPoint</Application>
  <PresentationFormat>Widescreen</PresentationFormat>
  <Paragraphs>210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for Leaders — Meta Prompting &amp; COSTAR</dc:title>
  <dc:subject>PptxGenJS Presentation</dc:subject>
  <dc:creator>Generative AI MasterMind</dc:creator>
  <cp:lastModifiedBy>Venkat Tirumalasetti</cp:lastModifiedBy>
  <cp:revision>2</cp:revision>
  <dcterms:created xsi:type="dcterms:W3CDTF">2026-05-26T01:12:50Z</dcterms:created>
  <dcterms:modified xsi:type="dcterms:W3CDTF">2026-05-28T15:17:27Z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d77c177-921f-4c67-aad2-9844fb8189cd_Enabled">
    <vt:lpwstr>true</vt:lpwstr>
  </property>
  <property fmtid="{D5CDD505-2E9C-101B-9397-08002B2CF9AE}" pid="3" name="MSIP_Label_dd77c177-921f-4c67-aad2-9844fb8189cd_SetDate">
    <vt:lpwstr>2026-05-28T13:11:09Z</vt:lpwstr>
  </property>
  <property fmtid="{D5CDD505-2E9C-101B-9397-08002B2CF9AE}" pid="4" name="MSIP_Label_dd77c177-921f-4c67-aad2-9844fb8189cd_Method">
    <vt:lpwstr>Standard</vt:lpwstr>
  </property>
  <property fmtid="{D5CDD505-2E9C-101B-9397-08002B2CF9AE}" pid="5" name="MSIP_Label_dd77c177-921f-4c67-aad2-9844fb8189cd_Name">
    <vt:lpwstr>dd77c177-921f-4c67-aad2-9844fb8189cd</vt:lpwstr>
  </property>
  <property fmtid="{D5CDD505-2E9C-101B-9397-08002B2CF9AE}" pid="6" name="MSIP_Label_dd77c177-921f-4c67-aad2-9844fb8189cd_SiteId">
    <vt:lpwstr>21f195bc-13e5-4339-82ea-ef8b8ecdd0a9</vt:lpwstr>
  </property>
  <property fmtid="{D5CDD505-2E9C-101B-9397-08002B2CF9AE}" pid="7" name="MSIP_Label_dd77c177-921f-4c67-aad2-9844fb8189cd_ActionId">
    <vt:lpwstr>939803ec-e43a-4390-b3c0-d0195efc2d98</vt:lpwstr>
  </property>
  <property fmtid="{D5CDD505-2E9C-101B-9397-08002B2CF9AE}" pid="8" name="MSIP_Label_dd77c177-921f-4c67-aad2-9844fb8189cd_ContentBits">
    <vt:lpwstr>2</vt:lpwstr>
  </property>
  <property fmtid="{D5CDD505-2E9C-101B-9397-08002B2CF9AE}" pid="9" name="MSIP_Label_dd77c177-921f-4c67-aad2-9844fb8189cd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/>
  </property>
</Properties>
</file>